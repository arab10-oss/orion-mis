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ORION MIS vision: one cloud-native platform that connects university operations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every module shares a common identity, data model and reporting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a transformation: manual systems lose time and control; ORION makes operations digital, auditable and responsive.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vision to the roadmap: deliver usable increments through Agile sprints and continuously improve based on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top-down: React drives the experience; Express encapsulates APIs; MySQL provides reliable data; Docker and Terraform make cloud deployment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a typical role-based request: identity, JWT, UI, Axios, API, business logic, database, response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application architecture: a client layer, controlled REST API, business logic, ORM and normalized database—with focused supporting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deployment route: source control triggers CI, Docker packages services, Terraform declares infrastructure, and EC2 serves the stack behind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security is a gate, not an afterthought: tests and Trivy scanning occur before infrastructure and production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 model is centered on users and departments. Offerings connect courses to faculty, while enrollments, attendance, exams and results capture the student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roadmap becomes delivery: backlog to planning, development, testing, review, deployment and improvement, repeating every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as a complete product team. Highlight Arab Das as owner of cloud infrastructure and containerization.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defense in depth: identity, access, safe headers, encrypted transport, CORS, rate controls, auditability and vulnerability scanning.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these as credible next steps, enabled by the present architecture: AI assistance, smart attendance, mobile, predictive insights and elastic cloud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impact is operational: faster administration and reports, less manual effort, protected access, scalable delivery and better decisions through real-time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demo, use these exact stops: login, student dashboard, faculty dashboard, admin dashboard, attendance, results and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project layout, key technologies and contribution workflow. Replace the QR placeholder with the final GitHub repository link before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invite questions and transition into the demo 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ON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DE4FF">
              <a:alpha val="6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2881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spc="120" kern="0" dirty="0">
                <a:solidFill>
                  <a:srgbClr val="829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ORION  /  UNIVERSITY MANAGEMENT INFORMATION SYSTEM</a:t>
            </a:r>
            <a:endParaRPr lang="en-US" sz="570" dirty="0"/>
          </a:p>
        </p:txBody>
      </p:sp>
      <p:sp>
        <p:nvSpPr>
          <p:cNvPr id="4" name="Text 2"/>
          <p:cNvSpPr/>
          <p:nvPr/>
        </p:nvSpPr>
        <p:spPr>
          <a:xfrm>
            <a:off x="9144000" y="652881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spc="70" kern="0" dirty="0">
                <a:solidFill>
                  <a:srgbClr val="829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PROJECT  •  2026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1440"/>
            <a:ext cx="3931920" cy="393192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124358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ORION MIS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594360" y="19659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Management Information System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" y="24688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5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CLOUD-NATIVE ARCHITECTURE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03504" y="2880360"/>
            <a:ext cx="713232" cy="246888"/>
          </a:xfrm>
          <a:prstGeom prst="roundRect">
            <a:avLst>
              <a:gd name="adj" fmla="val 48148"/>
            </a:avLst>
          </a:prstGeom>
          <a:solidFill>
            <a:srgbClr val="3D8BFF">
              <a:alpha val="3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" y="2921508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1389888" y="2880360"/>
            <a:ext cx="822960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81328" y="292150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</a:t>
            </a:r>
            <a:endParaRPr lang="en-US" sz="570" dirty="0"/>
          </a:p>
        </p:txBody>
      </p:sp>
      <p:sp>
        <p:nvSpPr>
          <p:cNvPr id="29" name="Shape 27"/>
          <p:cNvSpPr/>
          <p:nvPr/>
        </p:nvSpPr>
        <p:spPr>
          <a:xfrm>
            <a:off x="2286000" y="2880360"/>
            <a:ext cx="868680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377440" y="2921508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570" dirty="0"/>
          </a:p>
        </p:txBody>
      </p:sp>
      <p:sp>
        <p:nvSpPr>
          <p:cNvPr id="31" name="Shape 29"/>
          <p:cNvSpPr/>
          <p:nvPr/>
        </p:nvSpPr>
        <p:spPr>
          <a:xfrm>
            <a:off x="3227832" y="2880360"/>
            <a:ext cx="594360" cy="246888"/>
          </a:xfrm>
          <a:prstGeom prst="roundRect">
            <a:avLst>
              <a:gd name="adj" fmla="val 48148"/>
            </a:avLst>
          </a:prstGeom>
          <a:solidFill>
            <a:srgbClr val="C46CFF">
              <a:alpha val="30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19272" y="29215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</a:t>
            </a:r>
            <a:endParaRPr lang="en-US" sz="57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4480560" cy="2560320"/>
          </a:xfrm>
          <a:prstGeom prst="roundRect">
            <a:avLst>
              <a:gd name="adj" fmla="val 9286"/>
            </a:avLst>
          </a:prstGeom>
          <a:solidFill>
            <a:srgbClr val="111D35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39712" y="2148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UNIVERSITY OPERATIONS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995160" y="3447288"/>
            <a:ext cx="493776" cy="621792"/>
          </a:xfrm>
          <a:prstGeom prst="rect">
            <a:avLst/>
          </a:prstGeom>
          <a:solidFill>
            <a:srgbClr val="8D5BFF">
              <a:alpha val="85000"/>
            </a:srgbClr>
          </a:solidFill>
          <a:ln w="12700">
            <a:solidFill>
              <a:srgbClr val="5DE4FF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95744" y="3538728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5744" y="3739896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3941064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0104" y="3127248"/>
            <a:ext cx="493776" cy="941832"/>
          </a:xfrm>
          <a:prstGeom prst="rect">
            <a:avLst/>
          </a:prstGeom>
          <a:solidFill>
            <a:srgbClr val="3D8BFF">
              <a:alpha val="85000"/>
            </a:srgbClr>
          </a:solidFill>
          <a:ln w="12700">
            <a:solidFill>
              <a:srgbClr val="5DE4FF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0688" y="3218688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0688" y="3419856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0688" y="3621024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85048" y="2807208"/>
            <a:ext cx="493776" cy="1261872"/>
          </a:xfrm>
          <a:prstGeom prst="rect">
            <a:avLst/>
          </a:prstGeom>
          <a:solidFill>
            <a:srgbClr val="8D5BFF">
              <a:alpha val="85000"/>
            </a:srgbClr>
          </a:solidFill>
          <a:ln w="12700">
            <a:solidFill>
              <a:srgbClr val="5DE4FF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85632" y="2898648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85632" y="3099816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85632" y="3300984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79992" y="3447288"/>
            <a:ext cx="493776" cy="621792"/>
          </a:xfrm>
          <a:prstGeom prst="rect">
            <a:avLst/>
          </a:prstGeom>
          <a:solidFill>
            <a:srgbClr val="3D8BFF">
              <a:alpha val="85000"/>
            </a:srgbClr>
          </a:solidFill>
          <a:ln w="12700">
            <a:solidFill>
              <a:srgbClr val="5DE4FF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0576" y="3538728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80576" y="3739896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0576" y="3941064"/>
            <a:ext cx="82296" cy="64008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6920" y="2724912"/>
            <a:ext cx="713232" cy="299557"/>
          </a:xfrm>
          <a:prstGeom prst="arc">
            <a:avLst/>
          </a:prstGeom>
          <a:solidFill>
            <a:srgbClr val="5DE4FF">
              <a:alpha val="0"/>
            </a:srgbClr>
          </a:solidFill>
          <a:ln w="15240">
            <a:solidFill>
              <a:srgbClr val="5DE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32360" y="2633472"/>
            <a:ext cx="249631" cy="249631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24933" y="2706624"/>
            <a:ext cx="228234" cy="228234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4663440"/>
            <a:ext cx="1325880" cy="502920"/>
          </a:xfrm>
          <a:prstGeom prst="roundRect">
            <a:avLst>
              <a:gd name="adj" fmla="val 25455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424928" y="47823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99248" y="47960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823960" y="4663440"/>
            <a:ext cx="1143000" cy="502920"/>
          </a:xfrm>
          <a:prstGeom prst="roundRect">
            <a:avLst>
              <a:gd name="adj" fmla="val 25455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933688" y="4782312"/>
            <a:ext cx="201168" cy="181051"/>
          </a:xfrm>
          <a:prstGeom prst="can">
            <a:avLst/>
          </a:prstGeom>
          <a:solidFill>
            <a:srgbClr val="8D5BFF">
              <a:alpha val="1600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08008" y="479602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10131552" y="4663440"/>
            <a:ext cx="1051560" cy="502920"/>
          </a:xfrm>
          <a:prstGeom prst="roundRect">
            <a:avLst>
              <a:gd name="adj" fmla="val 25455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241280" y="4873752"/>
            <a:ext cx="201168" cy="84491"/>
          </a:xfrm>
          <a:prstGeom prst="arc">
            <a:avLst/>
          </a:prstGeom>
          <a:solidFill>
            <a:srgbClr val="3D8BFF">
              <a:alpha val="0"/>
            </a:srgbClr>
          </a:solidFill>
          <a:ln w="15240">
            <a:solidFill>
              <a:srgbClr val="3D8B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93584" y="4782312"/>
            <a:ext cx="70409" cy="70409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47899" y="4855464"/>
            <a:ext cx="64374" cy="64374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15600" y="47960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001000" y="4114800"/>
            <a:ext cx="1984248" cy="-77724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321040" y="4663440"/>
            <a:ext cx="731520" cy="-59436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418320" y="4663440"/>
            <a:ext cx="548640" cy="-868680"/>
          </a:xfrm>
          <a:prstGeom prst="line">
            <a:avLst/>
          </a:prstGeom>
          <a:noFill/>
          <a:ln w="10160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603504" y="5303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intelligent fabric for academic excellence.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PROJECT OVERVIEW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intelligent operating system for campus life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unified, role-aware platform that makes academic operations visible, actionable and secure.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66928" y="1828800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906" y="2066544"/>
            <a:ext cx="118140" cy="118140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836" y="2177735"/>
            <a:ext cx="236281" cy="156362"/>
          </a:xfrm>
          <a:prstGeom prst="arc">
            <a:avLst/>
          </a:prstGeom>
          <a:solidFill>
            <a:srgbClr val="5DE4FF">
              <a:alpha val="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2728" y="2039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52728" y="233172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&amp; lifecycle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4361688" y="1828800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6666" y="2066544"/>
            <a:ext cx="118140" cy="118140"/>
          </a:xfrm>
          <a:prstGeom prst="ellipse">
            <a:avLst/>
          </a:prstGeom>
          <a:solidFill>
            <a:srgbClr val="8D5BFF">
              <a:alpha val="16000"/>
            </a:srgbClr>
          </a:solidFill>
          <a:ln w="12700">
            <a:solidFill>
              <a:srgbClr val="8D5B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7596" y="2177735"/>
            <a:ext cx="236281" cy="156362"/>
          </a:xfrm>
          <a:prstGeom prst="arc">
            <a:avLst/>
          </a:prstGeom>
          <a:solidFill>
            <a:srgbClr val="8D5BFF">
              <a:alpha val="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039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Management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233172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Workloads &amp; allocation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8156448" y="1828800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20665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E6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42248" y="2039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42248" y="233172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academic signals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566928" y="3081528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7240" y="33192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52728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52728" y="358444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&amp; credits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4361688" y="3081528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410712"/>
            <a:ext cx="347472" cy="145938"/>
          </a:xfrm>
          <a:prstGeom prst="arc">
            <a:avLst/>
          </a:prstGeom>
          <a:solidFill>
            <a:srgbClr val="C46CFF">
              <a:alpha val="0"/>
            </a:srgbClr>
          </a:solidFill>
          <a:ln w="15240">
            <a:solidFill>
              <a:srgbClr val="C46C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2343" y="3319272"/>
            <a:ext cx="121615" cy="121615"/>
          </a:xfrm>
          <a:prstGeom prst="ellipse">
            <a:avLst/>
          </a:prstGeom>
          <a:solidFill>
            <a:srgbClr val="C46CFF">
              <a:alpha val="16000"/>
            </a:srgbClr>
          </a:solidFill>
          <a:ln w="12700">
            <a:solidFill>
              <a:srgbClr val="C46C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6160" y="3392424"/>
            <a:ext cx="111191" cy="111191"/>
          </a:xfrm>
          <a:prstGeom prst="ellipse">
            <a:avLst/>
          </a:prstGeom>
          <a:solidFill>
            <a:srgbClr val="C46CFF">
              <a:alpha val="16000"/>
            </a:srgbClr>
          </a:solidFill>
          <a:ln w="12700">
            <a:solidFill>
              <a:srgbClr val="C46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47488" y="358444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governance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8156448" y="3081528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 rot="5400000">
            <a:off x="8366760" y="3319272"/>
            <a:ext cx="347472" cy="382219"/>
          </a:xfrm>
          <a:prstGeom prst="chevron">
            <a:avLst/>
          </a:prstGeom>
          <a:solidFill>
            <a:srgbClr val="FFD36A">
              <a:alpha val="16000"/>
            </a:srgbClr>
          </a:solidFill>
          <a:ln w="13970">
            <a:solidFill>
              <a:srgbClr val="FFD3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42248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42248" y="358444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&amp; assessments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566928" y="4334256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77240" y="4572000"/>
            <a:ext cx="347472" cy="312725"/>
          </a:xfrm>
          <a:prstGeom prst="can">
            <a:avLst/>
          </a:prstGeom>
          <a:solidFill>
            <a:srgbClr val="5DE4FF">
              <a:alpha val="1600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52728" y="4544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252728" y="483717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&amp; insight</a:t>
            </a:r>
            <a:endParaRPr lang="en-US" sz="630" dirty="0"/>
          </a:p>
        </p:txBody>
      </p:sp>
      <p:sp>
        <p:nvSpPr>
          <p:cNvPr id="56" name="Shape 54"/>
          <p:cNvSpPr/>
          <p:nvPr/>
        </p:nvSpPr>
        <p:spPr>
          <a:xfrm>
            <a:off x="4361688" y="4334256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0" y="45720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47488" y="4544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47488" y="483717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/ Excel intelligence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8156448" y="4334256"/>
            <a:ext cx="3383280" cy="950976"/>
          </a:xfrm>
          <a:prstGeom prst="roundRect">
            <a:avLst>
              <a:gd name="adj" fmla="val 17308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 rot="5400000">
            <a:off x="8366760" y="4572000"/>
            <a:ext cx="347472" cy="382219"/>
          </a:xfrm>
          <a:prstGeom prst="chevro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42248" y="4544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Based Access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842248" y="483717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Least-privilege controls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PROBLEM STATEMENT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fragmented effort to a connected campus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processes introduce latency, blind spots and avoidable security risk.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66928" y="1828800"/>
            <a:ext cx="5166360" cy="3931920"/>
          </a:xfrm>
          <a:prstGeom prst="roundRect">
            <a:avLst>
              <a:gd name="adj" fmla="val 5116"/>
            </a:avLst>
          </a:prstGeom>
          <a:solidFill>
            <a:srgbClr val="161826">
              <a:alpha val="93000"/>
            </a:srgbClr>
          </a:solidFill>
          <a:ln w="7620">
            <a:solidFill>
              <a:srgbClr val="FF737D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1828800"/>
            <a:ext cx="5166360" cy="3931920"/>
          </a:xfrm>
          <a:prstGeom prst="roundRect">
            <a:avLst>
              <a:gd name="adj" fmla="val 5116"/>
            </a:avLst>
          </a:prstGeom>
          <a:solidFill>
            <a:srgbClr val="102238">
              <a:alpha val="94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1579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7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21579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ORION MIS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2688336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15568" y="261518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Paper-based operations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839712" y="2688336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261518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workflows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14400" y="3136392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15568" y="306324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attendance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839712" y="3136392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40880" y="306324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attendance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914400" y="3584448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115568" y="3511296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report generation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6839712" y="3584448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3511296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reports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14400" y="4032504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15568" y="395935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communication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839712" y="4032504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040880" y="395935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updates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914400" y="4480560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15568" y="440740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Siloed management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6839712" y="4480560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040880" y="440740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command center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914400" y="4928616"/>
            <a:ext cx="82296" cy="82296"/>
          </a:xfrm>
          <a:prstGeom prst="ellipse">
            <a:avLst/>
          </a:prstGeom>
          <a:solidFill>
            <a:srgbClr val="FF737D"/>
          </a:solidFill>
          <a:ln w="12700">
            <a:solidFill>
              <a:srgbClr val="FF737D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FF737D">
                <a:alpha val="7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15568" y="485546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gaps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6839712" y="4928616"/>
            <a:ext cx="82296" cy="82296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9E6B7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040880" y="485546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by design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5788152" y="3273552"/>
            <a:ext cx="594360" cy="384048"/>
          </a:xfrm>
          <a:prstGeom prst="chevron">
            <a:avLst/>
          </a:prstGeom>
          <a:solidFill>
            <a:srgbClr val="8D5BFF"/>
          </a:solidFill>
          <a:ln w="12700">
            <a:solidFill>
              <a:srgbClr val="5DE4FF"/>
            </a:solidFill>
            <a:prstDash val="solid"/>
          </a:ln>
          <a:effectLst>
            <a:outerShdw sx="100000" sy="100000" kx="0" ky="0" algn="bl" rotWithShape="0" blurRad="63500" dist="50800" dir="16200000">
              <a:srgbClr val="8D5BFF">
                <a:alpha val="6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870448" y="338328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PROJECT VISION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the university platform that evolves with ambition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Secure. Scalable. Insightful. Continuously delivered.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5DE4FF">
              <a:alpha val="2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2377440"/>
            <a:ext cx="256032" cy="25603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2496312"/>
            <a:ext cx="1234440" cy="0"/>
          </a:xfrm>
          <a:prstGeom prst="line">
            <a:avLst/>
          </a:prstGeom>
          <a:noFill/>
          <a:ln w="11430">
            <a:solidFill>
              <a:srgbClr val="31507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06324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79476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&amp; administrative workflows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0" y="1965960"/>
            <a:ext cx="868680" cy="8686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2377440"/>
            <a:ext cx="256032" cy="25603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2496312"/>
            <a:ext cx="1234440" cy="0"/>
          </a:xfrm>
          <a:prstGeom prst="line">
            <a:avLst/>
          </a:prstGeom>
          <a:noFill/>
          <a:ln w="11430">
            <a:solidFill>
              <a:srgbClr val="31507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26080" y="306324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27248" y="379476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&amp; auditability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1965960"/>
            <a:ext cx="868680" cy="86868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2377440"/>
            <a:ext cx="256032" cy="25603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496312"/>
            <a:ext cx="1234440" cy="0"/>
          </a:xfrm>
          <a:prstGeom prst="line">
            <a:avLst/>
          </a:prstGeom>
          <a:noFill/>
          <a:ln w="11430">
            <a:solidFill>
              <a:srgbClr val="315079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212080" y="306324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13248" y="379476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infrastructure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772400" y="1965960"/>
            <a:ext cx="868680" cy="868680"/>
          </a:xfrm>
          <a:prstGeom prst="ellipse">
            <a:avLst/>
          </a:prstGeom>
          <a:solidFill>
            <a:srgbClr val="59E6B7">
              <a:alpha val="25000"/>
            </a:srgbClr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2377440"/>
            <a:ext cx="256032" cy="256032"/>
          </a:xfrm>
          <a:prstGeom prst="ellipse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2496312"/>
            <a:ext cx="1234440" cy="0"/>
          </a:xfrm>
          <a:prstGeom prst="line">
            <a:avLst/>
          </a:prstGeom>
          <a:noFill/>
          <a:ln w="11430">
            <a:solidFill>
              <a:srgbClr val="315079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98080" y="306324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809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E6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Illuminate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99248" y="379476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for better decisions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058400" y="1965960"/>
            <a:ext cx="868680" cy="868680"/>
          </a:xfrm>
          <a:prstGeom prst="ellipse">
            <a:avLst/>
          </a:prstGeom>
          <a:solidFill>
            <a:srgbClr val="C46CFF">
              <a:alpha val="25000"/>
            </a:srgbClr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87000" y="2377440"/>
            <a:ext cx="256032" cy="256032"/>
          </a:xfrm>
          <a:prstGeom prst="ellipse">
            <a:avLst/>
          </a:prstGeom>
          <a:solidFill>
            <a:srgbClr val="C46CFF"/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84080" y="306324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9669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985248" y="379476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deployment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61872" y="53035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principle  →  ship valuable increments, measure impact, improve continuously.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TECHNOLOGY STACK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modern stack, layered for velocity and resilience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is purpose-built, from fluid interfaces to secure infrastructure.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87552" y="1691640"/>
            <a:ext cx="10241280" cy="548640"/>
          </a:xfrm>
          <a:prstGeom prst="roundRect">
            <a:avLst>
              <a:gd name="adj" fmla="val 20000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16152" y="18653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68880" y="184708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 •  Vite  •  Tailwind CSS  •  React Router  •  Framer Motion  •  Axios  •  React Hook Form  •  Joi  •  Chart.js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188720" y="2459736"/>
            <a:ext cx="9838944" cy="548640"/>
          </a:xfrm>
          <a:prstGeom prst="roundRect">
            <a:avLst>
              <a:gd name="adj" fmla="val 20000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17320" y="26334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8D5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670048" y="2615184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 •  Express.js  •  JWT  •  Swagger  •  PDFKit  •  ExcelJS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89888" y="3227832"/>
            <a:ext cx="9436608" cy="548640"/>
          </a:xfrm>
          <a:prstGeom prst="roundRect">
            <a:avLst>
              <a:gd name="adj" fmla="val 20000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618488" y="340156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3D8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871216" y="3383280"/>
            <a:ext cx="7699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8  •  Sequelize ORM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591056" y="3995928"/>
            <a:ext cx="9034272" cy="548640"/>
          </a:xfrm>
          <a:prstGeom prst="roundRect">
            <a:avLst>
              <a:gd name="adj" fmla="val 20000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819656" y="41696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59E6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072384" y="4151376"/>
            <a:ext cx="7296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 •  Docker Compose  •  Terraform  •  AWS EC2  •  Render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792224" y="4764024"/>
            <a:ext cx="8631936" cy="548640"/>
          </a:xfrm>
          <a:prstGeom prst="roundRect">
            <a:avLst>
              <a:gd name="adj" fmla="val 20000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20824" y="493776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C46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273552" y="4919472"/>
            <a:ext cx="6894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 •  Nginx  •  Helmet  •  Trivy  •  Rate Limiting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3504" y="188366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2834640" y="580644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+ observability embedded across every layer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COMPLETE SYSTEM WORKFLOW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interaction becomes a secure, visible outcome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request travels through a controlled path—then returns as a live dashboard update.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828800" y="1691640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04913" y="1810512"/>
            <a:ext cx="68397" cy="68397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0715" y="1874886"/>
            <a:ext cx="136794" cy="90526"/>
          </a:xfrm>
          <a:prstGeom prst="arc">
            <a:avLst/>
          </a:prstGeom>
          <a:solidFill>
            <a:srgbClr val="5DE4FF">
              <a:alpha val="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2848" y="18242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/ Faculty / Admin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218688" y="2185416"/>
            <a:ext cx="0" cy="27432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828800" y="2505456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5400000">
            <a:off x="1938528" y="2624328"/>
            <a:ext cx="201168" cy="221285"/>
          </a:xfrm>
          <a:prstGeom prst="chevron">
            <a:avLst/>
          </a:prstGeom>
          <a:solidFill>
            <a:srgbClr val="8D5BFF">
              <a:alpha val="1600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263804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218688" y="2999232"/>
            <a:ext cx="0" cy="274320"/>
          </a:xfrm>
          <a:prstGeom prst="line">
            <a:avLst/>
          </a:prstGeom>
          <a:noFill/>
          <a:ln w="1270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828800" y="3319272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 rot="5400000">
            <a:off x="1938528" y="3438144"/>
            <a:ext cx="201168" cy="221285"/>
          </a:xfrm>
          <a:prstGeom prst="chevro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2848" y="34518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218688" y="3813048"/>
            <a:ext cx="0" cy="274320"/>
          </a:xfrm>
          <a:prstGeom prst="line">
            <a:avLst/>
          </a:prstGeom>
          <a:noFill/>
          <a:ln w="12700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828800" y="4133088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38528" y="4251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12848" y="42656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218688" y="4626864"/>
            <a:ext cx="0" cy="27432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828800" y="4946904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938528" y="506577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12848" y="5079492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 API Requests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720840" y="1691640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30568" y="18105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04888" y="18242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REST API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8110728" y="2185416"/>
            <a:ext cx="0" cy="274320"/>
          </a:xfrm>
          <a:prstGeom prst="line">
            <a:avLst/>
          </a:prstGeom>
          <a:noFill/>
          <a:ln w="12700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20840" y="2505456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30568" y="2624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04888" y="263804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110728" y="2999232"/>
            <a:ext cx="0" cy="274320"/>
          </a:xfrm>
          <a:prstGeom prst="line">
            <a:avLst/>
          </a:prstGeom>
          <a:noFill/>
          <a:ln w="1270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720840" y="3319272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30568" y="3438144"/>
            <a:ext cx="201168" cy="181051"/>
          </a:xfrm>
          <a:prstGeom prst="ca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04888" y="34518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Database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8110728" y="3813048"/>
            <a:ext cx="0" cy="274320"/>
          </a:xfrm>
          <a:prstGeom prst="line">
            <a:avLst/>
          </a:prstGeom>
          <a:noFill/>
          <a:ln w="12700">
            <a:solidFill>
              <a:srgbClr val="59E6B7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720840" y="4133088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30568" y="4251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04888" y="42656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8110728" y="4626864"/>
            <a:ext cx="0" cy="27432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720840" y="4946904"/>
            <a:ext cx="2788920" cy="493776"/>
          </a:xfrm>
          <a:prstGeom prst="roundRect">
            <a:avLst>
              <a:gd name="adj" fmla="val 25926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830568" y="506577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3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104888" y="5079492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Updates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4617720" y="5440680"/>
            <a:ext cx="2011680" cy="-3749040"/>
          </a:xfrm>
          <a:prstGeom prst="line">
            <a:avLst/>
          </a:prstGeom>
          <a:noFill/>
          <a:ln w="1524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074920" y="4882896"/>
            <a:ext cx="50292" cy="5029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202936" y="4626864"/>
            <a:ext cx="50292" cy="5029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DE4FF">
                <a:alpha val="7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330952" y="4370832"/>
            <a:ext cx="50292" cy="5029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458968" y="4114800"/>
            <a:ext cx="50292" cy="5029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DE4FF">
                <a:alpha val="7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586984" y="3858768"/>
            <a:ext cx="50292" cy="5029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715000" y="3602736"/>
            <a:ext cx="50292" cy="5029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DE4FF">
                <a:alpha val="7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843016" y="3346704"/>
            <a:ext cx="50292" cy="5029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971032" y="3090672"/>
            <a:ext cx="50292" cy="5029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DE4FF">
                <a:alpha val="7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099048" y="2834640"/>
            <a:ext cx="50292" cy="50292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27064" y="2578608"/>
            <a:ext cx="50292" cy="50292"/>
          </a:xfrm>
          <a:prstGeom prst="ellipse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5DE4FF">
                <a:alpha val="7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046720" y="5696712"/>
            <a:ext cx="1325880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138160" y="573786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API PARTICLES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OVERALL SYSTEM ARCHITECTURE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separation of concerns, seamless delivery of value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layers are compact, testable and independently understandable.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32688" y="1600200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8801" y="1719072"/>
            <a:ext cx="68397" cy="68397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4603" y="1783446"/>
            <a:ext cx="136794" cy="90526"/>
          </a:xfrm>
          <a:prstGeom prst="arc">
            <a:avLst/>
          </a:prstGeom>
          <a:solidFill>
            <a:srgbClr val="5DE4FF">
              <a:alpha val="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6736" y="173278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3364992" y="174650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 •  Faculty  •  Admin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2029968" y="2039112"/>
            <a:ext cx="0" cy="164592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2688" y="2231136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2416" y="23500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16736" y="236372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364992" y="23774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• Routing • Forms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2029968" y="2670048"/>
            <a:ext cx="0" cy="164592"/>
          </a:xfrm>
          <a:prstGeom prst="line">
            <a:avLst/>
          </a:prstGeom>
          <a:noFill/>
          <a:ln w="10160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2688" y="2862072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42416" y="2980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16736" y="299466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REST API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364992" y="3008376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 • JWT • Swagger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2029968" y="3300984"/>
            <a:ext cx="0" cy="164592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32688" y="3493008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42416" y="36118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16736" y="362559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364992" y="363931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• Workflows • Reports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2029968" y="3931920"/>
            <a:ext cx="0" cy="164592"/>
          </a:xfrm>
          <a:prstGeom prst="line">
            <a:avLst/>
          </a:prstGeom>
          <a:noFill/>
          <a:ln w="10160">
            <a:solidFill>
              <a:srgbClr val="C46CFF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32688" y="4123944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42416" y="4242816"/>
            <a:ext cx="201168" cy="181051"/>
          </a:xfrm>
          <a:prstGeom prst="ca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16736" y="425653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 ORM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3364992" y="427024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• Queries • Validation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2029968" y="4562856"/>
            <a:ext cx="0" cy="164592"/>
          </a:xfrm>
          <a:prstGeom prst="line">
            <a:avLst/>
          </a:prstGeom>
          <a:noFill/>
          <a:ln w="10160">
            <a:solidFill>
              <a:srgbClr val="59E6B7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32688" y="4754880"/>
            <a:ext cx="21945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42416" y="4873752"/>
            <a:ext cx="201168" cy="181051"/>
          </a:xfrm>
          <a:prstGeom prst="can">
            <a:avLst/>
          </a:prstGeom>
          <a:solidFill>
            <a:srgbClr val="5DE4FF">
              <a:alpha val="1600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16736" y="48874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DATABASE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3364992" y="490118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academic data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6766560" y="1600200"/>
            <a:ext cx="4480560" cy="3840480"/>
          </a:xfrm>
          <a:prstGeom prst="roundRect">
            <a:avLst>
              <a:gd name="adj" fmla="val 4762"/>
            </a:avLst>
          </a:prstGeom>
          <a:solidFill>
            <a:srgbClr val="111D35">
              <a:alpha val="94000"/>
            </a:srgbClr>
          </a:solidFill>
          <a:ln w="7620">
            <a:solidFill>
              <a:srgbClr val="315079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14032" y="1883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CAPABILITIES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150608" y="2423160"/>
            <a:ext cx="15087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260336" y="2542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34656" y="255574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Hook Form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8686800" y="2642616"/>
            <a:ext cx="530352" cy="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9400032" y="256946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150608" y="3337560"/>
            <a:ext cx="15087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260336" y="34564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534656" y="347014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PDFKit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8686800" y="3557016"/>
            <a:ext cx="530352" cy="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9400032" y="348386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generation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150608" y="4251960"/>
            <a:ext cx="1508760" cy="438912"/>
          </a:xfrm>
          <a:prstGeom prst="roundRect">
            <a:avLst>
              <a:gd name="adj" fmla="val 29167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260336" y="43708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E6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534656" y="438454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ExcelJS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86800" y="4471416"/>
            <a:ext cx="530352" cy="0"/>
          </a:xfrm>
          <a:prstGeom prst="line">
            <a:avLst/>
          </a:prstGeom>
          <a:noFill/>
          <a:ln w="10160">
            <a:solidFill>
              <a:srgbClr val="59E6B7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9400032" y="439826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export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CLOUD INFRASTRUCTURE ARCHITECTURE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 as code, repeatable from commit to cloud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AWS-style deployment path designed for control, isolation and scale.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21792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7905" y="2039112"/>
            <a:ext cx="68397" cy="68397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707" y="2103486"/>
            <a:ext cx="136794" cy="90526"/>
          </a:xfrm>
          <a:prstGeom prst="arc">
            <a:avLst/>
          </a:prstGeom>
          <a:solidFill>
            <a:srgbClr val="3D8BFF">
              <a:alpha val="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1563624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737360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47088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21408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2679192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52928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962656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36976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794760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968496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078224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52544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Build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4910328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84064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93792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68112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025896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199632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09360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0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141464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315200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24928" y="2130552"/>
            <a:ext cx="201168" cy="84491"/>
          </a:xfrm>
          <a:prstGeom prst="arc">
            <a:avLst/>
          </a:prstGeom>
          <a:solidFill>
            <a:srgbClr val="3D8BFF">
              <a:alpha val="0"/>
            </a:srgbClr>
          </a:solidFill>
          <a:ln w="15240">
            <a:solidFill>
              <a:srgbClr val="3D8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77232" y="2039112"/>
            <a:ext cx="70409" cy="70409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31547" y="2112264"/>
            <a:ext cx="64374" cy="64374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9248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8257032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430768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540496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814816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9372600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546336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656064" y="20391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930384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Express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10488168" y="2148840"/>
            <a:ext cx="155448" cy="0"/>
          </a:xfrm>
          <a:prstGeom prst="line">
            <a:avLst/>
          </a:prstGeom>
          <a:noFill/>
          <a:ln w="825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0661904" y="1920240"/>
            <a:ext cx="941832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771632" y="2039112"/>
            <a:ext cx="201168" cy="181051"/>
          </a:xfrm>
          <a:prstGeom prst="ca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45952" y="2052828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2788920" y="3063240"/>
            <a:ext cx="6629400" cy="2148840"/>
          </a:xfrm>
          <a:prstGeom prst="roundRect">
            <a:avLst>
              <a:gd name="adj" fmla="val 10213"/>
            </a:avLst>
          </a:prstGeom>
          <a:solidFill>
            <a:srgbClr val="111D35">
              <a:alpha val="96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090672" y="3364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FFD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 / PRODUCTION VPC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54680" y="3895344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246120" y="393649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IP</a:t>
            </a:r>
            <a:endParaRPr lang="en-US" sz="570" dirty="0"/>
          </a:p>
        </p:txBody>
      </p:sp>
      <p:sp>
        <p:nvSpPr>
          <p:cNvPr id="70" name="Shape 68"/>
          <p:cNvSpPr/>
          <p:nvPr/>
        </p:nvSpPr>
        <p:spPr>
          <a:xfrm>
            <a:off x="4626864" y="3895344"/>
            <a:ext cx="1266444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718304" y="3936492"/>
            <a:ext cx="10835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Groups</a:t>
            </a:r>
            <a:endParaRPr lang="en-US" sz="570" dirty="0"/>
          </a:p>
        </p:txBody>
      </p:sp>
      <p:sp>
        <p:nvSpPr>
          <p:cNvPr id="72" name="Shape 70"/>
          <p:cNvSpPr/>
          <p:nvPr/>
        </p:nvSpPr>
        <p:spPr>
          <a:xfrm>
            <a:off x="6446520" y="3895344"/>
            <a:ext cx="1214323" cy="246888"/>
          </a:xfrm>
          <a:prstGeom prst="roundRect">
            <a:avLst>
              <a:gd name="adj" fmla="val 48148"/>
            </a:avLst>
          </a:prstGeom>
          <a:solidFill>
            <a:srgbClr val="59E6B7">
              <a:alpha val="3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537960" y="3936492"/>
            <a:ext cx="1031443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Network</a:t>
            </a:r>
            <a:endParaRPr lang="en-US" sz="570" dirty="0"/>
          </a:p>
        </p:txBody>
      </p:sp>
      <p:sp>
        <p:nvSpPr>
          <p:cNvPr id="74" name="Shape 72"/>
          <p:cNvSpPr/>
          <p:nvPr/>
        </p:nvSpPr>
        <p:spPr>
          <a:xfrm>
            <a:off x="8092440" y="3895344"/>
            <a:ext cx="849478" cy="246888"/>
          </a:xfrm>
          <a:prstGeom prst="roundRect">
            <a:avLst>
              <a:gd name="adj" fmla="val 48148"/>
            </a:avLst>
          </a:prstGeom>
          <a:solidFill>
            <a:srgbClr val="3D8BFF">
              <a:alpha val="3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183880" y="3936492"/>
            <a:ext cx="66659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Volumes</a:t>
            </a:r>
            <a:endParaRPr lang="en-US" sz="570" dirty="0"/>
          </a:p>
        </p:txBody>
      </p:sp>
      <p:sp>
        <p:nvSpPr>
          <p:cNvPr id="76" name="Shape 74"/>
          <p:cNvSpPr/>
          <p:nvPr/>
        </p:nvSpPr>
        <p:spPr>
          <a:xfrm>
            <a:off x="3822192" y="4572000"/>
            <a:ext cx="1579169" cy="246888"/>
          </a:xfrm>
          <a:prstGeom prst="roundRect">
            <a:avLst>
              <a:gd name="adj" fmla="val 48148"/>
            </a:avLst>
          </a:prstGeom>
          <a:solidFill>
            <a:srgbClr val="C46CFF">
              <a:alpha val="30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913632" y="4613148"/>
            <a:ext cx="139628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Variables</a:t>
            </a:r>
            <a:endParaRPr lang="en-US" sz="570" dirty="0"/>
          </a:p>
        </p:txBody>
      </p:sp>
      <p:sp>
        <p:nvSpPr>
          <p:cNvPr id="78" name="Shape 76"/>
          <p:cNvSpPr/>
          <p:nvPr/>
        </p:nvSpPr>
        <p:spPr>
          <a:xfrm>
            <a:off x="6903720" y="4572000"/>
            <a:ext cx="1422806" cy="246888"/>
          </a:xfrm>
          <a:prstGeom prst="roundRect">
            <a:avLst>
              <a:gd name="adj" fmla="val 48148"/>
            </a:avLst>
          </a:prstGeom>
          <a:solidFill>
            <a:srgbClr val="FFD36A">
              <a:alpha val="30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995160" y="4613148"/>
            <a:ext cx="123992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+ Monitoring</a:t>
            </a:r>
            <a:endParaRPr lang="en-US" sz="570" dirty="0"/>
          </a:p>
        </p:txBody>
      </p:sp>
      <p:sp>
        <p:nvSpPr>
          <p:cNvPr id="80" name="Text 78"/>
          <p:cNvSpPr/>
          <p:nvPr/>
        </p:nvSpPr>
        <p:spPr>
          <a:xfrm>
            <a:off x="9646920" y="397764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boundary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DEVOPS DEPLOYMENT WORKFLOW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 developer push to a protected production release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 turns delivery into a governed, repeatable pipeline.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30352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6465" y="1901952"/>
            <a:ext cx="68397" cy="68397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267" y="1966326"/>
            <a:ext cx="136794" cy="90526"/>
          </a:xfrm>
          <a:prstGeom prst="arc">
            <a:avLst/>
          </a:prstGeom>
          <a:solidFill>
            <a:srgbClr val="3D8BFF">
              <a:alpha val="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2103120" y="20482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468880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78608" y="1901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52928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Push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041648" y="20482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07408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17136" y="1901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91456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980176" y="20482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45936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55664" y="1901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9984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7918704" y="20482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84464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 rot="5400000">
            <a:off x="8394192" y="1901952"/>
            <a:ext cx="201168" cy="221285"/>
          </a:xfrm>
          <a:prstGeom prst="chevro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Testing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9857232" y="20482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222992" y="17830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332720" y="1901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607040" y="19156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Image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30352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 rot="5400000">
            <a:off x="640080" y="3730752"/>
            <a:ext cx="201168" cy="221285"/>
          </a:xfrm>
          <a:prstGeom prst="chevro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 Scan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2103120" y="38770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468880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578608" y="37307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52928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4041648" y="38770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407408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17136" y="3822192"/>
            <a:ext cx="201168" cy="84491"/>
          </a:xfrm>
          <a:prstGeom prst="arc">
            <a:avLst/>
          </a:prstGeom>
          <a:solidFill>
            <a:srgbClr val="3D8BFF">
              <a:alpha val="0"/>
            </a:srgbClr>
          </a:solidFill>
          <a:ln w="15240">
            <a:solidFill>
              <a:srgbClr val="3D8B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69440" y="3730752"/>
            <a:ext cx="70409" cy="70409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23755" y="3803904"/>
            <a:ext cx="64374" cy="64374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Deploy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5980176" y="38770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345936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55664" y="37307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29984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7918704" y="38770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284464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394192" y="3822192"/>
            <a:ext cx="201168" cy="84491"/>
          </a:xfrm>
          <a:prstGeom prst="arc">
            <a:avLst/>
          </a:prstGeom>
          <a:solidFill>
            <a:srgbClr val="3D8BFF">
              <a:alpha val="0"/>
            </a:srgbClr>
          </a:solidFill>
          <a:ln w="15240">
            <a:solidFill>
              <a:srgbClr val="3D8B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46496" y="3730752"/>
            <a:ext cx="70409" cy="70409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00811" y="3803904"/>
            <a:ext cx="64374" cy="64374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68512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9857232" y="3877056"/>
            <a:ext cx="292608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0222992" y="3611880"/>
            <a:ext cx="1572768" cy="530352"/>
          </a:xfrm>
          <a:prstGeom prst="roundRect">
            <a:avLst>
              <a:gd name="adj" fmla="val 24138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0399105" y="3730752"/>
            <a:ext cx="68397" cy="68397"/>
          </a:xfrm>
          <a:prstGeom prst="ellipse">
            <a:avLst/>
          </a:prstGeom>
          <a:solidFill>
            <a:srgbClr val="3D8BFF">
              <a:alpha val="16000"/>
            </a:srgbClr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64907" y="3795126"/>
            <a:ext cx="136794" cy="90526"/>
          </a:xfrm>
          <a:prstGeom prst="arc">
            <a:avLst/>
          </a:prstGeom>
          <a:solidFill>
            <a:srgbClr val="3D8BFF">
              <a:alpha val="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07040" y="3744468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Users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10195560" y="2313432"/>
            <a:ext cx="0" cy="1252728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60120" y="4937760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051560" y="497890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</a:t>
            </a:r>
            <a:endParaRPr lang="en-US" sz="570" dirty="0"/>
          </a:p>
        </p:txBody>
      </p:sp>
      <p:sp>
        <p:nvSpPr>
          <p:cNvPr id="79" name="Shape 77"/>
          <p:cNvSpPr/>
          <p:nvPr/>
        </p:nvSpPr>
        <p:spPr>
          <a:xfrm>
            <a:off x="2743200" y="493776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F737D">
              <a:alpha val="30000"/>
            </a:srgbClr>
          </a:solidFill>
          <a:ln w="7620">
            <a:solidFill>
              <a:srgbClr val="FF737D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834640" y="497890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GATE</a:t>
            </a:r>
            <a:endParaRPr lang="en-US" sz="570" dirty="0"/>
          </a:p>
        </p:txBody>
      </p:sp>
      <p:sp>
        <p:nvSpPr>
          <p:cNvPr id="81" name="Shape 79"/>
          <p:cNvSpPr/>
          <p:nvPr/>
        </p:nvSpPr>
        <p:spPr>
          <a:xfrm>
            <a:off x="5212080" y="4937760"/>
            <a:ext cx="457200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303520" y="497890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</a:t>
            </a:r>
            <a:endParaRPr lang="en-US" sz="570" dirty="0"/>
          </a:p>
        </p:txBody>
      </p:sp>
      <p:sp>
        <p:nvSpPr>
          <p:cNvPr id="83" name="Shape 81"/>
          <p:cNvSpPr/>
          <p:nvPr/>
        </p:nvSpPr>
        <p:spPr>
          <a:xfrm>
            <a:off x="6629400" y="4937760"/>
            <a:ext cx="1691640" cy="246888"/>
          </a:xfrm>
          <a:prstGeom prst="roundRect">
            <a:avLst>
              <a:gd name="adj" fmla="val 48148"/>
            </a:avLst>
          </a:prstGeom>
          <a:solidFill>
            <a:srgbClr val="59E6B7">
              <a:alpha val="3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720840" y="4978908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PRODUCTION</a:t>
            </a:r>
            <a:endParaRPr lang="en-US" sz="570" dirty="0"/>
          </a:p>
        </p:txBody>
      </p:sp>
      <p:sp>
        <p:nvSpPr>
          <p:cNvPr id="85" name="Text 83"/>
          <p:cNvSpPr/>
          <p:nvPr/>
        </p:nvSpPr>
        <p:spPr>
          <a:xfrm>
            <a:off x="2743200" y="559612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checks make release velocity safe.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DATABASE MODEL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normalized academic data model built for traceability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relationships keep people, programs, participation and performance connected.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05840" y="182880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 rot="5400000">
            <a:off x="1115568" y="1947672"/>
            <a:ext cx="201168" cy="221285"/>
          </a:xfrm>
          <a:prstGeom prst="chevron">
            <a:avLst/>
          </a:prstGeom>
          <a:solidFill>
            <a:srgbClr val="5DE4FF">
              <a:alpha val="1600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9888" y="19613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40080" y="297180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3090672"/>
            <a:ext cx="201168" cy="181051"/>
          </a:xfrm>
          <a:prstGeom prst="ca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1043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011680" y="297180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21408" y="3090672"/>
            <a:ext cx="201168" cy="181051"/>
          </a:xfrm>
          <a:prstGeom prst="can">
            <a:avLst/>
          </a:prstGeom>
          <a:solidFill>
            <a:srgbClr val="8D5BFF">
              <a:alpha val="1600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31043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114800" y="182880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24528" y="1947672"/>
            <a:ext cx="201168" cy="181051"/>
          </a:xfrm>
          <a:prstGeom prst="ca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19613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297680" y="315468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07408" y="3273552"/>
            <a:ext cx="201168" cy="181051"/>
          </a:xfrm>
          <a:prstGeom prst="can">
            <a:avLst/>
          </a:prstGeom>
          <a:solidFill>
            <a:srgbClr val="FFD36A">
              <a:alpha val="16000"/>
            </a:srgbClr>
          </a:solidFill>
          <a:ln w="13970">
            <a:solidFill>
              <a:srgbClr val="FFD3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28726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144768" y="315468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54496" y="3273552"/>
            <a:ext cx="201168" cy="181051"/>
          </a:xfrm>
          <a:prstGeom prst="can">
            <a:avLst/>
          </a:prstGeom>
          <a:solidFill>
            <a:srgbClr val="C46CFF">
              <a:alpha val="16000"/>
            </a:srgbClr>
          </a:solidFill>
          <a:ln w="13970">
            <a:solidFill>
              <a:srgbClr val="C46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28726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Offerings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8028432" y="214884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8160" y="2267712"/>
            <a:ext cx="201168" cy="181051"/>
          </a:xfrm>
          <a:prstGeom prst="can">
            <a:avLst/>
          </a:prstGeom>
          <a:solidFill>
            <a:srgbClr val="5DE4FF">
              <a:alpha val="1600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2814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Enrollments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9921240" y="160020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030968" y="1719072"/>
            <a:ext cx="201168" cy="181051"/>
          </a:xfrm>
          <a:prstGeom prst="ca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05288" y="17327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8183880" y="420624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93608" y="4325112"/>
            <a:ext cx="201168" cy="181051"/>
          </a:xfrm>
          <a:prstGeom prst="can">
            <a:avLst/>
          </a:prstGeom>
          <a:solidFill>
            <a:srgbClr val="8D5BFF">
              <a:alpha val="1600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67928" y="43388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Exams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10012680" y="4160520"/>
            <a:ext cx="1234440" cy="457200"/>
          </a:xfrm>
          <a:prstGeom prst="roundRect">
            <a:avLst>
              <a:gd name="adj" fmla="val 28000"/>
            </a:avLst>
          </a:prstGeom>
          <a:solidFill>
            <a:srgbClr val="15213A">
              <a:alpha val="96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122408" y="4279392"/>
            <a:ext cx="201168" cy="181051"/>
          </a:xfrm>
          <a:prstGeom prst="can">
            <a:avLst/>
          </a:prstGeom>
          <a:solidFill>
            <a:srgbClr val="3D8BFF">
              <a:alpha val="16000"/>
            </a:srgbClr>
          </a:solidFill>
          <a:ln w="13970">
            <a:solidFill>
              <a:srgbClr val="3D8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96728" y="42931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2240280" y="2057400"/>
            <a:ext cx="-978408" cy="91440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240280" y="2057400"/>
            <a:ext cx="393192" cy="91440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273552" y="3200400"/>
            <a:ext cx="1024128" cy="18288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349240" y="3383280"/>
            <a:ext cx="795528" cy="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379208" y="3383280"/>
            <a:ext cx="649224" cy="-100584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262872" y="2377440"/>
            <a:ext cx="658368" cy="-54864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262872" y="2377440"/>
            <a:ext cx="-1078992" cy="205740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418320" y="4434840"/>
            <a:ext cx="594360" cy="-4572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748272" y="3611880"/>
            <a:ext cx="1572768" cy="59436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2286000" y="234086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: 1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5486400" y="3456432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: *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3063240" y="5715000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Color-coded entities • glowing relations • normalized core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AGILE DEVELOPMENT LIFECYCLE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sprint rhythm that keeps value moving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roadmap converts priorities into working increments, feedback and continuous improvement.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48640" y="1920240"/>
            <a:ext cx="1234440" cy="1234440"/>
          </a:xfrm>
          <a:prstGeom prst="ellipse">
            <a:avLst/>
          </a:prstGeom>
          <a:solidFill>
            <a:srgbClr val="5DE4FF">
              <a:alpha val="2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5D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508760" y="2615184"/>
            <a:ext cx="640080" cy="0"/>
          </a:xfrm>
          <a:prstGeom prst="line">
            <a:avLst/>
          </a:prstGeom>
          <a:noFill/>
          <a:ln w="1270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67128" y="1920240"/>
            <a:ext cx="1234440" cy="123444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41448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3D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12848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27248" y="2615184"/>
            <a:ext cx="640080" cy="0"/>
          </a:xfrm>
          <a:prstGeom prst="line">
            <a:avLst/>
          </a:prstGeom>
          <a:noFill/>
          <a:ln w="12700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785616" y="1920240"/>
            <a:ext cx="1234440" cy="123444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59936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8D5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9936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31336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45736" y="2615184"/>
            <a:ext cx="640080" cy="0"/>
          </a:xfrm>
          <a:prstGeom prst="line">
            <a:avLst/>
          </a:prstGeom>
          <a:noFill/>
          <a:ln w="1270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04104" y="1920240"/>
            <a:ext cx="1234440" cy="1234440"/>
          </a:xfrm>
          <a:prstGeom prst="ellipse">
            <a:avLst/>
          </a:prstGeom>
          <a:solidFill>
            <a:srgbClr val="59E6B7">
              <a:alpha val="25000"/>
            </a:srgbClr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78424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59E6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E6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9824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64224" y="2615184"/>
            <a:ext cx="640080" cy="0"/>
          </a:xfrm>
          <a:prstGeom prst="line">
            <a:avLst/>
          </a:prstGeom>
          <a:noFill/>
          <a:ln w="12700">
            <a:solidFill>
              <a:srgbClr val="59E6B7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022592" y="1920240"/>
            <a:ext cx="1234440" cy="1234440"/>
          </a:xfrm>
          <a:prstGeom prst="ellipse">
            <a:avLst/>
          </a:prstGeom>
          <a:solidFill>
            <a:srgbClr val="FFD36A">
              <a:alpha val="25000"/>
            </a:srgbClr>
          </a:solidFill>
          <a:ln w="12700">
            <a:solidFill>
              <a:srgbClr val="FFD36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912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FFD3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68312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982712" y="2615184"/>
            <a:ext cx="640080" cy="0"/>
          </a:xfrm>
          <a:prstGeom prst="line">
            <a:avLst/>
          </a:prstGeom>
          <a:noFill/>
          <a:ln w="12700">
            <a:solidFill>
              <a:srgbClr val="FFD36A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641080" y="1920240"/>
            <a:ext cx="1234440" cy="1234440"/>
          </a:xfrm>
          <a:prstGeom prst="ellipse">
            <a:avLst/>
          </a:prstGeom>
          <a:solidFill>
            <a:srgbClr val="C46CFF">
              <a:alpha val="25000"/>
            </a:srgbClr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15400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C46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0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601200" y="2615184"/>
            <a:ext cx="640080" cy="0"/>
          </a:xfrm>
          <a:prstGeom prst="line">
            <a:avLst/>
          </a:prstGeom>
          <a:noFill/>
          <a:ln w="12700">
            <a:solidFill>
              <a:srgbClr val="C46CFF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259568" y="1920240"/>
            <a:ext cx="1234440" cy="1234440"/>
          </a:xfrm>
          <a:prstGeom prst="ellipse">
            <a:avLst/>
          </a:prstGeom>
          <a:solidFill>
            <a:srgbClr val="5DE4FF">
              <a:alpha val="2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33888" y="2286000"/>
            <a:ext cx="658368" cy="658368"/>
          </a:xfrm>
          <a:prstGeom prst="ellipse">
            <a:avLst/>
          </a:prstGeom>
          <a:solidFill>
            <a:srgbClr val="15213A"/>
          </a:solidFill>
          <a:ln w="19050">
            <a:solidFill>
              <a:srgbClr val="5DE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33888" y="2468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305288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97280" y="4663440"/>
            <a:ext cx="9875520" cy="685800"/>
          </a:xfrm>
          <a:prstGeom prst="roundRect">
            <a:avLst>
              <a:gd name="adj" fmla="val 24000"/>
            </a:avLst>
          </a:prstGeom>
          <a:solidFill>
            <a:srgbClr val="111D35">
              <a:alpha val="95000"/>
            </a:srgbClr>
          </a:solidFill>
          <a:ln w="7620">
            <a:solidFill>
              <a:srgbClr val="315079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389888" y="49286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spc="10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BOARD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2788920" y="4864608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880360" y="49057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work</a:t>
            </a:r>
            <a:endParaRPr lang="en-US" sz="570" dirty="0"/>
          </a:p>
        </p:txBody>
      </p:sp>
      <p:sp>
        <p:nvSpPr>
          <p:cNvPr id="62" name="Shape 60"/>
          <p:cNvSpPr/>
          <p:nvPr/>
        </p:nvSpPr>
        <p:spPr>
          <a:xfrm>
            <a:off x="4709160" y="4864608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3D8BFF">
              <a:alpha val="3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800600" y="49057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visibility</a:t>
            </a:r>
            <a:endParaRPr lang="en-US" sz="570" dirty="0"/>
          </a:p>
        </p:txBody>
      </p:sp>
      <p:sp>
        <p:nvSpPr>
          <p:cNvPr id="64" name="Shape 62"/>
          <p:cNvSpPr/>
          <p:nvPr/>
        </p:nvSpPr>
        <p:spPr>
          <a:xfrm>
            <a:off x="6629400" y="4864608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720840" y="49057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increment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8549640" y="4864608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59E6B7">
              <a:alpha val="3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641080" y="490575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TEAM RESPONSIBILITIES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specialists, one shared mission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cross-functional team owns the full journey from interaction design to dependable operations.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85216" y="1737360"/>
            <a:ext cx="3429000" cy="1490472"/>
          </a:xfrm>
          <a:prstGeom prst="roundRect">
            <a:avLst>
              <a:gd name="adj" fmla="val 13497"/>
            </a:avLst>
          </a:prstGeom>
          <a:solidFill>
            <a:srgbClr val="15213A">
              <a:alpha val="93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" y="1993392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1947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Dhruv Mohapatro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2505456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8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LEAD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804672" y="27706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• Tailwind • Framer Motion • Dashboards • UI/UX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4334256" y="1737360"/>
            <a:ext cx="3429000" cy="1490472"/>
          </a:xfrm>
          <a:prstGeom prst="roundRect">
            <a:avLst>
              <a:gd name="adj" fmla="val 13497"/>
            </a:avLst>
          </a:prstGeom>
          <a:solidFill>
            <a:srgbClr val="15213A">
              <a:alpha val="93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44568" y="1993392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5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1947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Krishna Rout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53712" y="2505456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80" kern="0" dirty="0">
                <a:solidFill>
                  <a:srgbClr val="8D5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LEAD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4553712" y="27706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• REST APIs • JWT • Swagger • Business Logic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8083296" y="1737360"/>
            <a:ext cx="3429000" cy="1490472"/>
          </a:xfrm>
          <a:prstGeom prst="roundRect">
            <a:avLst>
              <a:gd name="adj" fmla="val 13497"/>
            </a:avLst>
          </a:prstGeom>
          <a:solidFill>
            <a:srgbClr val="15213A">
              <a:alpha val="93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3608" y="1993392"/>
            <a:ext cx="393192" cy="353873"/>
          </a:xfrm>
          <a:prstGeom prst="can">
            <a:avLst/>
          </a:prstGeom>
          <a:solidFill>
            <a:srgbClr val="59E6B7">
              <a:alpha val="16000"/>
            </a:srgbClr>
          </a:solidFill>
          <a:ln w="13970">
            <a:solidFill>
              <a:srgbClr val="59E6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96528" y="1947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Biswajit Barik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02752" y="2505456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80" kern="0" dirty="0">
                <a:solidFill>
                  <a:srgbClr val="59E6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LEAD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8302752" y="27706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• Sequelize • ER Design • Query Optimization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585216" y="3611880"/>
            <a:ext cx="5376672" cy="1490472"/>
          </a:xfrm>
          <a:prstGeom prst="roundRect">
            <a:avLst>
              <a:gd name="adj" fmla="val 13497"/>
            </a:avLst>
          </a:prstGeom>
          <a:solidFill>
            <a:srgbClr val="15213A"/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5528" y="3959352"/>
            <a:ext cx="393192" cy="165141"/>
          </a:xfrm>
          <a:prstGeom prst="arc">
            <a:avLst/>
          </a:prstGeom>
          <a:solidFill>
            <a:srgbClr val="FFD36A">
              <a:alpha val="0"/>
            </a:srgbClr>
          </a:solidFill>
          <a:ln w="15240">
            <a:solidFill>
              <a:srgbClr val="FFD3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758" y="3867912"/>
            <a:ext cx="137617" cy="137617"/>
          </a:xfrm>
          <a:prstGeom prst="ellipse">
            <a:avLst/>
          </a:prstGeom>
          <a:solidFill>
            <a:srgbClr val="FFD36A">
              <a:alpha val="16000"/>
            </a:srgbClr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3920" y="3941064"/>
            <a:ext cx="125821" cy="125821"/>
          </a:xfrm>
          <a:prstGeom prst="ellipse">
            <a:avLst/>
          </a:prstGeom>
          <a:solidFill>
            <a:srgbClr val="FFD36A">
              <a:alpha val="16000"/>
            </a:srgbClr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98448" y="3822192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 Das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" y="4379976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80" kern="0" dirty="0">
                <a:solidFill>
                  <a:srgbClr val="FFD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INFRASTRUCTURE &amp; CONTAINERIZATION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>
            <a:off x="804672" y="4645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• Docker Compose • Terraform • AWS EC2 • IaC • Render • Cloud Architecture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4700016" y="3858768"/>
            <a:ext cx="987552" cy="246888"/>
          </a:xfrm>
          <a:prstGeom prst="roundRect">
            <a:avLst>
              <a:gd name="adj" fmla="val 48148"/>
            </a:avLst>
          </a:prstGeom>
          <a:solidFill>
            <a:srgbClr val="FFD36A">
              <a:alpha val="30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91456" y="3899916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LEAD</a:t>
            </a:r>
            <a:endParaRPr lang="en-US" sz="570" dirty="0"/>
          </a:p>
        </p:txBody>
      </p:sp>
      <p:sp>
        <p:nvSpPr>
          <p:cNvPr id="48" name="Shape 46"/>
          <p:cNvSpPr/>
          <p:nvPr/>
        </p:nvSpPr>
        <p:spPr>
          <a:xfrm>
            <a:off x="6217920" y="3611880"/>
            <a:ext cx="5376672" cy="1490472"/>
          </a:xfrm>
          <a:prstGeom prst="roundRect">
            <a:avLst>
              <a:gd name="adj" fmla="val 13497"/>
            </a:avLst>
          </a:prstGeom>
          <a:solidFill>
            <a:srgbClr val="15213A">
              <a:alpha val="93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 rot="5400000">
            <a:off x="6428232" y="3867912"/>
            <a:ext cx="393192" cy="432511"/>
          </a:xfrm>
          <a:prstGeom prst="chevron">
            <a:avLst/>
          </a:prstGeom>
          <a:solidFill>
            <a:srgbClr val="C46CFF">
              <a:alpha val="16000"/>
            </a:srgbClr>
          </a:solidFill>
          <a:ln w="13970">
            <a:solidFill>
              <a:srgbClr val="C46C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31152" y="3822192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Surya Kanta Lenka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37376" y="4379976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80" kern="0" dirty="0">
                <a:solidFill>
                  <a:srgbClr val="C46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DEVOPS, SECURITY &amp; DEPLOYMENT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6437376" y="4645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• CI/CD • Nginx • SSL • Helmet • Trivy • Rate Limiting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SECURITY ARCHITECTURE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is designed into every request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defenses protect identities, traffic, APIs and operating infrastructure.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251960" y="1508760"/>
            <a:ext cx="3749040" cy="374904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5230368" y="2057400"/>
            <a:ext cx="1508760" cy="1659636"/>
          </a:xfrm>
          <a:prstGeom prst="chevron">
            <a:avLst/>
          </a:prstGeom>
          <a:solidFill>
            <a:srgbClr val="5DE4FF">
              <a:alpha val="16000"/>
            </a:srgbClr>
          </a:solidFill>
          <a:ln w="13970">
            <a:solidFill>
              <a:srgbClr val="5D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794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ORION PLATFORM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1828800"/>
            <a:ext cx="1463040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5840" y="186994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</a:t>
            </a:r>
            <a:endParaRPr lang="en-US" sz="570" dirty="0"/>
          </a:p>
        </p:txBody>
      </p:sp>
      <p:sp>
        <p:nvSpPr>
          <p:cNvPr id="29" name="Shape 27"/>
          <p:cNvSpPr/>
          <p:nvPr/>
        </p:nvSpPr>
        <p:spPr>
          <a:xfrm>
            <a:off x="1188720" y="2075688"/>
            <a:ext cx="4800600" cy="1170432"/>
          </a:xfrm>
          <a:prstGeom prst="line">
            <a:avLst/>
          </a:prstGeom>
          <a:noFill/>
          <a:ln w="698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" y="4343400"/>
            <a:ext cx="694944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438454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1188720" y="4590288"/>
            <a:ext cx="4800600" cy="-1344168"/>
          </a:xfrm>
          <a:prstGeom prst="line">
            <a:avLst/>
          </a:prstGeom>
          <a:noFill/>
          <a:ln w="6985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017520" y="5212080"/>
            <a:ext cx="804672" cy="246888"/>
          </a:xfrm>
          <a:prstGeom prst="roundRect">
            <a:avLst>
              <a:gd name="adj" fmla="val 48148"/>
            </a:avLst>
          </a:prstGeom>
          <a:solidFill>
            <a:srgbClr val="59E6B7">
              <a:alpha val="3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0" y="5253228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Helmet</a:t>
            </a:r>
            <a:endParaRPr lang="en-US" sz="570" dirty="0"/>
          </a:p>
        </p:txBody>
      </p:sp>
      <p:sp>
        <p:nvSpPr>
          <p:cNvPr id="35" name="Shape 33"/>
          <p:cNvSpPr/>
          <p:nvPr/>
        </p:nvSpPr>
        <p:spPr>
          <a:xfrm>
            <a:off x="3291840" y="5458968"/>
            <a:ext cx="2697480" cy="-2212848"/>
          </a:xfrm>
          <a:prstGeom prst="line">
            <a:avLst/>
          </a:prstGeom>
          <a:noFill/>
          <a:ln w="6985">
            <a:solidFill>
              <a:srgbClr val="59E6B7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138160" y="5212080"/>
            <a:ext cx="749808" cy="246888"/>
          </a:xfrm>
          <a:prstGeom prst="roundRect">
            <a:avLst>
              <a:gd name="adj" fmla="val 48148"/>
            </a:avLst>
          </a:prstGeom>
          <a:solidFill>
            <a:srgbClr val="5DE4FF">
              <a:alpha val="3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0" y="525322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</a:t>
            </a:r>
            <a:endParaRPr lang="en-US" sz="570" dirty="0"/>
          </a:p>
        </p:txBody>
      </p:sp>
      <p:sp>
        <p:nvSpPr>
          <p:cNvPr id="38" name="Shape 36"/>
          <p:cNvSpPr/>
          <p:nvPr/>
        </p:nvSpPr>
        <p:spPr>
          <a:xfrm>
            <a:off x="8412480" y="5458968"/>
            <a:ext cx="-2423160" cy="-2212848"/>
          </a:xfrm>
          <a:prstGeom prst="line">
            <a:avLst/>
          </a:prstGeom>
          <a:noFill/>
          <a:ln w="6985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92640" y="4343400"/>
            <a:ext cx="694944" cy="246888"/>
          </a:xfrm>
          <a:prstGeom prst="roundRect">
            <a:avLst>
              <a:gd name="adj" fmla="val 48148"/>
            </a:avLst>
          </a:prstGeom>
          <a:solidFill>
            <a:srgbClr val="3D8BFF">
              <a:alpha val="3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84080" y="438454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</a:t>
            </a:r>
            <a:endParaRPr lang="en-US" sz="570" dirty="0"/>
          </a:p>
        </p:txBody>
      </p:sp>
      <p:sp>
        <p:nvSpPr>
          <p:cNvPr id="41" name="Shape 39"/>
          <p:cNvSpPr/>
          <p:nvPr/>
        </p:nvSpPr>
        <p:spPr>
          <a:xfrm>
            <a:off x="9966960" y="4590288"/>
            <a:ext cx="-3977640" cy="-1344168"/>
          </a:xfrm>
          <a:prstGeom prst="line">
            <a:avLst/>
          </a:prstGeom>
          <a:noFill/>
          <a:ln w="6985">
            <a:solidFill>
              <a:srgbClr val="3D8BFF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44000" y="182880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F737D">
              <a:alpha val="30000"/>
            </a:srgbClr>
          </a:solidFill>
          <a:ln w="7620">
            <a:solidFill>
              <a:srgbClr val="FF737D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235440" y="186994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9418320" y="2075688"/>
            <a:ext cx="-3429000" cy="1170432"/>
          </a:xfrm>
          <a:prstGeom prst="line">
            <a:avLst/>
          </a:prstGeom>
          <a:noFill/>
          <a:ln w="6985">
            <a:solidFill>
              <a:srgbClr val="FF737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183880" y="1143000"/>
            <a:ext cx="1024128" cy="246888"/>
          </a:xfrm>
          <a:prstGeom prst="roundRect">
            <a:avLst>
              <a:gd name="adj" fmla="val 48148"/>
            </a:avLst>
          </a:prstGeom>
          <a:solidFill>
            <a:srgbClr val="FFD36A">
              <a:alpha val="30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75320" y="1184148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</a:t>
            </a:r>
            <a:endParaRPr lang="en-US" sz="570" dirty="0"/>
          </a:p>
        </p:txBody>
      </p:sp>
      <p:sp>
        <p:nvSpPr>
          <p:cNvPr id="47" name="Shape 45"/>
          <p:cNvSpPr/>
          <p:nvPr/>
        </p:nvSpPr>
        <p:spPr>
          <a:xfrm>
            <a:off x="8458200" y="1389888"/>
            <a:ext cx="-2468880" cy="1856232"/>
          </a:xfrm>
          <a:prstGeom prst="line">
            <a:avLst/>
          </a:prstGeom>
          <a:noFill/>
          <a:ln w="6985">
            <a:solidFill>
              <a:srgbClr val="FFD36A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514600" y="1143000"/>
            <a:ext cx="1682496" cy="246888"/>
          </a:xfrm>
          <a:prstGeom prst="roundRect">
            <a:avLst>
              <a:gd name="adj" fmla="val 48148"/>
            </a:avLst>
          </a:prstGeom>
          <a:solidFill>
            <a:srgbClr val="C46CFF">
              <a:alpha val="30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606040" y="1184148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Scanning</a:t>
            </a:r>
            <a:endParaRPr lang="en-US" sz="570" dirty="0"/>
          </a:p>
        </p:txBody>
      </p:sp>
      <p:sp>
        <p:nvSpPr>
          <p:cNvPr id="50" name="Shape 48"/>
          <p:cNvSpPr/>
          <p:nvPr/>
        </p:nvSpPr>
        <p:spPr>
          <a:xfrm>
            <a:off x="2788920" y="1389888"/>
            <a:ext cx="3200400" cy="1856232"/>
          </a:xfrm>
          <a:prstGeom prst="line">
            <a:avLst/>
          </a:prstGeom>
          <a:noFill/>
          <a:ln w="6985">
            <a:solidFill>
              <a:srgbClr val="C46CFF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FUTURE SCOPE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next horizon for an intelligent campus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future-ready foundation can welcome new intelligence, channels and automation.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178308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1892808"/>
            <a:ext cx="658368" cy="658368"/>
          </a:xfrm>
          <a:prstGeom prst="ellipse">
            <a:avLst/>
          </a:prstGeom>
          <a:solidFill>
            <a:srgbClr val="5DE4FF">
              <a:alpha val="2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0756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5420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Chatbot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1440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campus help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538728" y="178308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48456" y="1892808"/>
            <a:ext cx="658368" cy="658368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5286" y="2075688"/>
            <a:ext cx="93269" cy="93269"/>
          </a:xfrm>
          <a:prstGeom prst="ellipse">
            <a:avLst/>
          </a:prstGeom>
          <a:solidFill>
            <a:srgbClr val="8D5BFF">
              <a:alpha val="16000"/>
            </a:srgbClr>
          </a:solidFill>
          <a:ln w="12700">
            <a:solidFill>
              <a:srgbClr val="8D5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38651" y="2163470"/>
            <a:ext cx="186538" cy="123444"/>
          </a:xfrm>
          <a:prstGeom prst="arc">
            <a:avLst/>
          </a:prstGeom>
          <a:solidFill>
            <a:srgbClr val="8D5BFF">
              <a:alpha val="0"/>
            </a:srgbClr>
          </a:solidFill>
          <a:ln w="13970">
            <a:solidFill>
              <a:srgbClr val="8D5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25420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Recognition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767328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intelligence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6391656" y="178308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01384" y="1892808"/>
            <a:ext cx="658368" cy="658368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20756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0256" y="25420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620256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in every pocket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9244584" y="178308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54312" y="1892808"/>
            <a:ext cx="658368" cy="658368"/>
          </a:xfrm>
          <a:prstGeom prst="ellipse">
            <a:avLst/>
          </a:prstGeom>
          <a:solidFill>
            <a:srgbClr val="59E6B7">
              <a:alpha val="25000"/>
            </a:srgbClr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0616" y="20756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E6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73184" y="25420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9473184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insight, better action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685800" y="370332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95528" y="3813048"/>
            <a:ext cx="658368" cy="658368"/>
          </a:xfrm>
          <a:prstGeom prst="ellipse">
            <a:avLst/>
          </a:prstGeom>
          <a:solidFill>
            <a:srgbClr val="FFD36A">
              <a:alpha val="25000"/>
            </a:srgbClr>
          </a:solidFill>
          <a:ln w="12700">
            <a:solidFill>
              <a:srgbClr val="FFD36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832" y="4087368"/>
            <a:ext cx="274320" cy="115214"/>
          </a:xfrm>
          <a:prstGeom prst="arc">
            <a:avLst/>
          </a:prstGeom>
          <a:solidFill>
            <a:srgbClr val="FFD36A">
              <a:alpha val="0"/>
            </a:srgbClr>
          </a:solidFill>
          <a:ln w="15240">
            <a:solidFill>
              <a:srgbClr val="FFD3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3155" y="3995928"/>
            <a:ext cx="96012" cy="96012"/>
          </a:xfrm>
          <a:prstGeom prst="ellipse">
            <a:avLst/>
          </a:prstGeom>
          <a:solidFill>
            <a:srgbClr val="FFD36A">
              <a:alpha val="16000"/>
            </a:srgbClr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7222" y="4069080"/>
            <a:ext cx="87782" cy="87782"/>
          </a:xfrm>
          <a:prstGeom prst="ellipse">
            <a:avLst/>
          </a:prstGeom>
          <a:solidFill>
            <a:srgbClr val="FFD36A">
              <a:alpha val="16000"/>
            </a:srgbClr>
          </a:solidFill>
          <a:ln w="12700">
            <a:solidFill>
              <a:srgbClr val="FFD3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Auto Scaling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14400" y="4754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performance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3538728" y="370332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48456" y="3813048"/>
            <a:ext cx="658368" cy="658368"/>
          </a:xfrm>
          <a:prstGeom prst="ellipse">
            <a:avLst/>
          </a:prstGeom>
          <a:solidFill>
            <a:srgbClr val="C46CFF">
              <a:alpha val="25000"/>
            </a:srgbClr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3995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767328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Integration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3767328" y="4754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learning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6391656" y="3703320"/>
            <a:ext cx="2395728" cy="1417320"/>
          </a:xfrm>
          <a:prstGeom prst="roundRect">
            <a:avLst>
              <a:gd name="adj" fmla="val 11613"/>
            </a:avLst>
          </a:prstGeom>
          <a:solidFill>
            <a:srgbClr val="15213A">
              <a:alpha val="92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501384" y="3813048"/>
            <a:ext cx="658368" cy="658368"/>
          </a:xfrm>
          <a:prstGeom prst="ellipse">
            <a:avLst/>
          </a:prstGeom>
          <a:solidFill>
            <a:srgbClr val="5DE4FF">
              <a:alpha val="25000"/>
            </a:srgbClr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47688" y="3995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20256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Notifications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620256" y="4754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message, right moment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EXPECTED BENEFITS &amp; IMPACT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 what matters. Improve what matters.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roadmap’s outcomes become practical value for administrators, faculty and students.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0080" y="178308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1783080"/>
            <a:ext cx="32004" cy="1234440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19293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Administration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04672" y="21762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474720" y="178308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1783080"/>
            <a:ext cx="32004" cy="1234440"/>
          </a:xfrm>
          <a:prstGeom prst="rect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19293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work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639312" y="21762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09360" y="178308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1783080"/>
            <a:ext cx="32004" cy="1234440"/>
          </a:xfrm>
          <a:prstGeom prst="rect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9293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473952" y="21762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0" y="178308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0" y="1783080"/>
            <a:ext cx="32004" cy="1234440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19293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scalability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9308592" y="21762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ELASTIC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0080" y="342900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3429000"/>
            <a:ext cx="32004" cy="1234440"/>
          </a:xfrm>
          <a:prstGeom prst="rect">
            <a:avLst/>
          </a:prstGeom>
          <a:solidFill>
            <a:srgbClr val="FFD36A"/>
          </a:solidFill>
          <a:ln w="12700">
            <a:solidFill>
              <a:srgbClr val="FFD36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35753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04672" y="38221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474720" y="342900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74720" y="3429000"/>
            <a:ext cx="32004" cy="1234440"/>
          </a:xfrm>
          <a:prstGeom prst="rect">
            <a:avLst/>
          </a:prstGeom>
          <a:solidFill>
            <a:srgbClr val="C46CFF"/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35753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experience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3639312" y="38221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309360" y="342900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09360" y="3429000"/>
            <a:ext cx="32004" cy="1234440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35753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473952" y="38221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144000" y="3429000"/>
            <a:ext cx="2377440" cy="1234440"/>
          </a:xfrm>
          <a:prstGeom prst="roundRect">
            <a:avLst>
              <a:gd name="adj" fmla="val 11852"/>
            </a:avLst>
          </a:prstGeom>
          <a:solidFill>
            <a:srgbClr val="15213A">
              <a:alpha val="9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44000" y="3429000"/>
            <a:ext cx="32004" cy="1234440"/>
          </a:xfrm>
          <a:prstGeom prst="rect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08592" y="35753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making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9308592" y="38221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LIVE DEMO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 ORION across every role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live walkthrough to prove the flow from access to insight.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58368" y="1874520"/>
            <a:ext cx="1874520" cy="1490472"/>
          </a:xfrm>
          <a:prstGeom prst="roundRect">
            <a:avLst>
              <a:gd name="adj" fmla="val 9202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2084832"/>
            <a:ext cx="1545336" cy="987552"/>
          </a:xfrm>
          <a:prstGeom prst="roundRect">
            <a:avLst>
              <a:gd name="adj" fmla="val 7407"/>
            </a:avLst>
          </a:prstGeom>
          <a:solidFill>
            <a:srgbClr val="172C4A"/>
          </a:solidFill>
          <a:ln w="7620">
            <a:solidFill>
              <a:srgbClr val="5DE4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2258568"/>
            <a:ext cx="838048" cy="82296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2450592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2615184"/>
            <a:ext cx="1057229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2779776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18211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Screen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2898648" y="1874520"/>
            <a:ext cx="1874520" cy="1490472"/>
          </a:xfrm>
          <a:prstGeom prst="roundRect">
            <a:avLst>
              <a:gd name="adj" fmla="val 9202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2084832"/>
            <a:ext cx="1545336" cy="987552"/>
          </a:xfrm>
          <a:prstGeom prst="roundRect">
            <a:avLst>
              <a:gd name="adj" fmla="val 7407"/>
            </a:avLst>
          </a:prstGeom>
          <a:solidFill>
            <a:srgbClr val="172C4A"/>
          </a:solidFill>
          <a:ln w="7620">
            <a:solidFill>
              <a:srgbClr val="3D8B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91256" y="2258568"/>
            <a:ext cx="838048" cy="82296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91256" y="2450592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615184"/>
            <a:ext cx="1057229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91256" y="2779776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6664" y="318211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Dashboard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5138928" y="1874520"/>
            <a:ext cx="1874520" cy="1490472"/>
          </a:xfrm>
          <a:prstGeom prst="roundRect">
            <a:avLst>
              <a:gd name="adj" fmla="val 9202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03520" y="2084832"/>
            <a:ext cx="1545336" cy="987552"/>
          </a:xfrm>
          <a:prstGeom prst="roundRect">
            <a:avLst>
              <a:gd name="adj" fmla="val 7407"/>
            </a:avLst>
          </a:prstGeom>
          <a:solidFill>
            <a:srgbClr val="172C4A"/>
          </a:solidFill>
          <a:ln w="7620">
            <a:solidFill>
              <a:srgbClr val="8D5BF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31536" y="2258568"/>
            <a:ext cx="838048" cy="82296"/>
          </a:xfrm>
          <a:prstGeom prst="rect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31536" y="2450592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31536" y="2615184"/>
            <a:ext cx="1057229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31536" y="2779776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66944" y="318211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Dashboard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7379208" y="1874520"/>
            <a:ext cx="1874520" cy="1490472"/>
          </a:xfrm>
          <a:prstGeom prst="roundRect">
            <a:avLst>
              <a:gd name="adj" fmla="val 9202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C46C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43800" y="2084832"/>
            <a:ext cx="1545336" cy="987552"/>
          </a:xfrm>
          <a:prstGeom prst="roundRect">
            <a:avLst>
              <a:gd name="adj" fmla="val 7407"/>
            </a:avLst>
          </a:prstGeom>
          <a:solidFill>
            <a:srgbClr val="172C4A"/>
          </a:solidFill>
          <a:ln w="7620">
            <a:solidFill>
              <a:srgbClr val="C46CF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71816" y="2258568"/>
            <a:ext cx="838048" cy="82296"/>
          </a:xfrm>
          <a:prstGeom prst="rect">
            <a:avLst/>
          </a:prstGeom>
          <a:solidFill>
            <a:srgbClr val="C46CFF"/>
          </a:solidFill>
          <a:ln w="12700">
            <a:solidFill>
              <a:srgbClr val="C46C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71816" y="2450592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71816" y="2615184"/>
            <a:ext cx="1057229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71816" y="2779776"/>
            <a:ext cx="670438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318211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</a:t>
            </a:r>
            <a:endParaRPr lang="en-US" sz="580" dirty="0"/>
          </a:p>
        </p:txBody>
      </p:sp>
      <p:sp>
        <p:nvSpPr>
          <p:cNvPr id="52" name="Shape 50"/>
          <p:cNvSpPr/>
          <p:nvPr/>
        </p:nvSpPr>
        <p:spPr>
          <a:xfrm>
            <a:off x="1828800" y="4224528"/>
            <a:ext cx="2148840" cy="1024128"/>
          </a:xfrm>
          <a:prstGeom prst="roundRect">
            <a:avLst>
              <a:gd name="adj" fmla="val 13393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993392" y="4434840"/>
            <a:ext cx="1819656" cy="521208"/>
          </a:xfrm>
          <a:prstGeom prst="roundRect">
            <a:avLst>
              <a:gd name="adj" fmla="val 14035"/>
            </a:avLst>
          </a:prstGeom>
          <a:solidFill>
            <a:srgbClr val="172C4A"/>
          </a:solidFill>
          <a:ln w="7620">
            <a:solidFill>
              <a:srgbClr val="59E6B7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21408" y="4608576"/>
            <a:ext cx="1016356" cy="82296"/>
          </a:xfrm>
          <a:prstGeom prst="rect">
            <a:avLst/>
          </a:prstGeom>
          <a:solidFill>
            <a:srgbClr val="59E6B7"/>
          </a:solidFill>
          <a:ln w="12700">
            <a:solidFill>
              <a:srgbClr val="59E6B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21408" y="4800600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21408" y="4965192"/>
            <a:ext cx="1282172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21408" y="5129784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56816" y="5065776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Module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4572000" y="4224528"/>
            <a:ext cx="2148840" cy="1024128"/>
          </a:xfrm>
          <a:prstGeom prst="roundRect">
            <a:avLst>
              <a:gd name="adj" fmla="val 13393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FFD36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36592" y="4434840"/>
            <a:ext cx="1819656" cy="521208"/>
          </a:xfrm>
          <a:prstGeom prst="roundRect">
            <a:avLst>
              <a:gd name="adj" fmla="val 14035"/>
            </a:avLst>
          </a:prstGeom>
          <a:solidFill>
            <a:srgbClr val="172C4A"/>
          </a:solidFill>
          <a:ln w="7620">
            <a:solidFill>
              <a:srgbClr val="FFD36A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64608" y="4608576"/>
            <a:ext cx="1016356" cy="82296"/>
          </a:xfrm>
          <a:prstGeom prst="rect">
            <a:avLst/>
          </a:prstGeom>
          <a:solidFill>
            <a:srgbClr val="FFD36A"/>
          </a:solidFill>
          <a:ln w="12700">
            <a:solidFill>
              <a:srgbClr val="FFD36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64608" y="4800600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64608" y="4965192"/>
            <a:ext cx="1282172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64608" y="5129784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0016" y="5065776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Module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7315200" y="4224528"/>
            <a:ext cx="2148840" cy="1024128"/>
          </a:xfrm>
          <a:prstGeom prst="roundRect">
            <a:avLst>
              <a:gd name="adj" fmla="val 13393"/>
            </a:avLst>
          </a:prstGeom>
          <a:solidFill>
            <a:srgbClr val="111D35">
              <a:alpha val="97000"/>
            </a:srgbClr>
          </a:solidFill>
          <a:ln w="7620">
            <a:solidFill>
              <a:srgbClr val="5DE4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479792" y="4434840"/>
            <a:ext cx="1819656" cy="521208"/>
          </a:xfrm>
          <a:prstGeom prst="roundRect">
            <a:avLst>
              <a:gd name="adj" fmla="val 14035"/>
            </a:avLst>
          </a:prstGeom>
          <a:solidFill>
            <a:srgbClr val="172C4A"/>
          </a:solidFill>
          <a:ln w="7620">
            <a:solidFill>
              <a:srgbClr val="5DE4FF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07808" y="4608576"/>
            <a:ext cx="1016356" cy="82296"/>
          </a:xfrm>
          <a:prstGeom prst="rect">
            <a:avLst/>
          </a:prstGeom>
          <a:solidFill>
            <a:srgbClr val="5DE4FF"/>
          </a:solidFill>
          <a:ln w="12700">
            <a:solidFill>
              <a:srgbClr val="5DE4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07808" y="4800600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07808" y="4965192"/>
            <a:ext cx="1282172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07808" y="5129784"/>
            <a:ext cx="813084" cy="59436"/>
          </a:xfrm>
          <a:prstGeom prst="rect">
            <a:avLst/>
          </a:prstGeom>
          <a:solidFill>
            <a:srgbClr val="567197"/>
          </a:solidFill>
          <a:ln w="12700">
            <a:solidFill>
              <a:srgbClr val="567197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3216" y="5065776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</a:t>
            </a:r>
            <a:endParaRPr lang="en-US" sz="580" dirty="0"/>
          </a:p>
        </p:txBody>
      </p:sp>
      <p:sp>
        <p:nvSpPr>
          <p:cNvPr id="73" name="Text 71"/>
          <p:cNvSpPr/>
          <p:nvPr/>
        </p:nvSpPr>
        <p:spPr>
          <a:xfrm>
            <a:off x="1371600" y="5870448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sequence  →  login  →  role dashboard  →  attendance / results  →  analytics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84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90" kern="0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GITHUB REPOSITORY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repository organized for confident contribution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" y="112471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Structure, tooling and workflow make the project approachable for every contributor.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0080" y="1755648"/>
            <a:ext cx="5989320" cy="3977640"/>
          </a:xfrm>
          <a:prstGeom prst="roundRect">
            <a:avLst>
              <a:gd name="adj" fmla="val 4138"/>
            </a:avLst>
          </a:prstGeom>
          <a:solidFill>
            <a:srgbClr val="111D35">
              <a:alpha val="95000"/>
            </a:srgbClr>
          </a:solidFill>
          <a:ln w="7620">
            <a:solidFill>
              <a:srgbClr val="315079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STRUCTURE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60704" y="2487168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frontend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60704" y="2779776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src / components / pages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60704" y="3072384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hooks / services / assets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60704" y="336499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backend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60704" y="365760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controllers / models / routes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60704" y="3950208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middleware / services / docs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60704" y="4242816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nginx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60704" y="4535424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terraform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60704" y="482803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5B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.github / workflows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995160" y="1755648"/>
            <a:ext cx="4544568" cy="3977640"/>
          </a:xfrm>
          <a:prstGeom prst="roundRect">
            <a:avLst>
              <a:gd name="adj" fmla="val 4138"/>
            </a:avLst>
          </a:prstGeom>
          <a:solidFill>
            <a:srgbClr val="15213A">
              <a:alpha val="94000"/>
            </a:srgbClr>
          </a:solidFill>
          <a:ln w="7620">
            <a:solidFill>
              <a:srgbClr val="F5F8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96912" y="2066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FLOW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33488" y="2514600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3D8BFF">
              <a:alpha val="30000"/>
            </a:srgbClr>
          </a:solidFill>
          <a:ln w="7620">
            <a:solidFill>
              <a:srgbClr val="3D8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24928" y="255574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→ Build → Review</a:t>
            </a:r>
            <a:endParaRPr lang="en-US" sz="570" dirty="0"/>
          </a:p>
        </p:txBody>
      </p:sp>
      <p:sp>
        <p:nvSpPr>
          <p:cNvPr id="39" name="Shape 37"/>
          <p:cNvSpPr/>
          <p:nvPr/>
        </p:nvSpPr>
        <p:spPr>
          <a:xfrm>
            <a:off x="7333488" y="3017520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8D5BFF">
              <a:alpha val="30000"/>
            </a:srgbClr>
          </a:solidFill>
          <a:ln w="7620">
            <a:solidFill>
              <a:srgbClr val="8D5BFF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24928" y="305866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checks → Security scan</a:t>
            </a:r>
            <a:endParaRPr lang="en-US" sz="570" dirty="0"/>
          </a:p>
        </p:txBody>
      </p:sp>
      <p:sp>
        <p:nvSpPr>
          <p:cNvPr id="41" name="Shape 39"/>
          <p:cNvSpPr/>
          <p:nvPr/>
        </p:nvSpPr>
        <p:spPr>
          <a:xfrm>
            <a:off x="7333488" y="3520440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59E6B7">
              <a:alpha val="30000"/>
            </a:srgbClr>
          </a:solidFill>
          <a:ln w="7620">
            <a:solidFill>
              <a:srgbClr val="59E6B7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24928" y="356158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spc="50" kern="0" dirty="0">
                <a:solidFill>
                  <a:srgbClr val="F5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→ Monitor → Improve</a:t>
            </a:r>
            <a:endParaRPr lang="en-US" sz="570" dirty="0"/>
          </a:p>
        </p:txBody>
      </p:sp>
      <p:sp>
        <p:nvSpPr>
          <p:cNvPr id="43" name="Text 41"/>
          <p:cNvSpPr/>
          <p:nvPr/>
        </p:nvSpPr>
        <p:spPr>
          <a:xfrm>
            <a:off x="9802368" y="297180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spc="80" kern="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QR</a:t>
            </a:r>
            <a:endParaRPr lang="en-US" sz="530" dirty="0"/>
          </a:p>
        </p:txBody>
      </p:sp>
      <p:sp>
        <p:nvSpPr>
          <p:cNvPr id="44" name="Shape 42"/>
          <p:cNvSpPr/>
          <p:nvPr/>
        </p:nvSpPr>
        <p:spPr>
          <a:xfrm>
            <a:off x="9921240" y="3182112"/>
            <a:ext cx="1005840" cy="1005840"/>
          </a:xfrm>
          <a:prstGeom prst="rect">
            <a:avLst/>
          </a:prstGeom>
          <a:solidFill>
            <a:srgbClr val="F5F8FF"/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85832" y="35478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52560" y="457200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repository URL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920240" y="3931920"/>
            <a:ext cx="5120640" cy="3200400"/>
          </a:xfrm>
          <a:prstGeom prst="ellipse">
            <a:avLst/>
          </a:prstGeom>
          <a:solidFill>
            <a:srgbClr val="3D8BFF">
              <a:alpha val="25000"/>
            </a:srgbClr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0449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85416" y="462686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63824" y="1545336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42232" y="31272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70916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627632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3209544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55864" y="479145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34272" y="1709928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12680" y="3291840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91088" y="487375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" y="1792224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17904" y="3374136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4956048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874520"/>
            <a:ext cx="22860" cy="22860"/>
          </a:xfrm>
          <a:prstGeom prst="ellipse">
            <a:avLst/>
          </a:prstGeom>
          <a:solidFill>
            <a:srgbClr val="8D5BFF"/>
          </a:solidFill>
          <a:ln w="12700">
            <a:solidFill>
              <a:srgbClr val="8D5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8D5B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53128" y="3456432"/>
            <a:ext cx="22860" cy="22860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16200000">
              <a:srgbClr val="3D8B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411480"/>
            <a:ext cx="3840480" cy="3840480"/>
          </a:xfrm>
          <a:prstGeom prst="ellipse">
            <a:avLst/>
          </a:prstGeom>
          <a:solidFill>
            <a:srgbClr val="8D5BFF">
              <a:alpha val="25000"/>
            </a:srgbClr>
          </a:solidFill>
          <a:ln w="12700">
            <a:solidFill>
              <a:srgbClr val="8D5B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063240" y="199339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Orion MIS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78808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68880" y="4709160"/>
            <a:ext cx="694944" cy="502920"/>
          </a:xfrm>
          <a:prstGeom prst="rect">
            <a:avLst/>
          </a:prstGeom>
          <a:solidFill>
            <a:srgbClr val="8D5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4471416"/>
            <a:ext cx="694944" cy="740664"/>
          </a:xfrm>
          <a:prstGeom prst="rect">
            <a:avLst/>
          </a:prstGeom>
          <a:solidFill>
            <a:srgbClr val="3D8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4233672"/>
            <a:ext cx="694944" cy="978408"/>
          </a:xfrm>
          <a:prstGeom prst="rect">
            <a:avLst/>
          </a:prstGeom>
          <a:solidFill>
            <a:srgbClr val="8D5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4709160"/>
            <a:ext cx="694944" cy="502920"/>
          </a:xfrm>
          <a:prstGeom prst="rect">
            <a:avLst/>
          </a:prstGeom>
          <a:solidFill>
            <a:srgbClr val="3D8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471416"/>
            <a:ext cx="694944" cy="740664"/>
          </a:xfrm>
          <a:prstGeom prst="rect">
            <a:avLst/>
          </a:prstGeom>
          <a:solidFill>
            <a:srgbClr val="8D5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4233672"/>
            <a:ext cx="694944" cy="978408"/>
          </a:xfrm>
          <a:prstGeom prst="rect">
            <a:avLst/>
          </a:prstGeom>
          <a:solidFill>
            <a:srgbClr val="3D8BFF">
              <a:alpha val="80000"/>
            </a:srgbClr>
          </a:solidFill>
          <a:ln w="12700">
            <a:solidFill>
              <a:srgbClr val="5DE4FF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4069080"/>
            <a:ext cx="1097280" cy="460858"/>
          </a:xfrm>
          <a:prstGeom prst="arc">
            <a:avLst/>
          </a:prstGeom>
          <a:solidFill>
            <a:srgbClr val="5DE4FF">
              <a:alpha val="0"/>
            </a:srgbClr>
          </a:solidFill>
          <a:ln w="15240">
            <a:solidFill>
              <a:srgbClr val="5DE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14493" y="3977640"/>
            <a:ext cx="384048" cy="384048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0758" y="4050792"/>
            <a:ext cx="351130" cy="351130"/>
          </a:xfrm>
          <a:prstGeom prst="ellipse">
            <a:avLst/>
          </a:prstGeom>
          <a:solidFill>
            <a:srgbClr val="5DE4FF">
              <a:alpha val="16000"/>
            </a:srgbClr>
          </a:solidFill>
          <a:ln w="12700">
            <a:solidFill>
              <a:srgbClr val="5DE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4754880"/>
            <a:ext cx="2441448" cy="-320040"/>
          </a:xfrm>
          <a:prstGeom prst="line">
            <a:avLst/>
          </a:prstGeom>
          <a:noFill/>
          <a:ln w="10160">
            <a:solidFill>
              <a:srgbClr val="5DE4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2560" y="4754880"/>
            <a:ext cx="-3063240" cy="-320040"/>
          </a:xfrm>
          <a:prstGeom prst="line">
            <a:avLst/>
          </a:prstGeom>
          <a:noFill/>
          <a:ln w="10160">
            <a:solidFill>
              <a:srgbClr val="8D5BFF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651760" y="58064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university operations, built to evolve.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70">
                <a:solidFill>
                  <a:srgbClr val="8291AD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Team Orion MIS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 MIS | Final Year Project</dc:title>
  <dc:subject>ORION MIS — University Management Information System</dc:subject>
  <dc:creator>Team Orion MIS</dc:creator>
  <cp:lastModifiedBy>Team Orion MIS</cp:lastModifiedBy>
  <cp:revision>1</cp:revision>
  <dcterms:created xsi:type="dcterms:W3CDTF">2026-08-05T10:27:18Z</dcterms:created>
  <dcterms:modified xsi:type="dcterms:W3CDTF">2026-08-05T10:27:18Z</dcterms:modified>
</cp:coreProperties>
</file>